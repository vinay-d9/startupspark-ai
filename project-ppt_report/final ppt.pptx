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69" r:id="rId16"/>
    <p:sldId id="272" r:id="rId17"/>
    <p:sldId id="271" r:id="rId18"/>
    <p:sldId id="273" r:id="rId19"/>
    <p:sldId id="274" r:id="rId20"/>
    <p:sldId id="267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IN" altLang="en-US" sz="1000" dirty="0">
                <a:solidFill>
                  <a:srgbClr val="9FB6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StartupSpark </a:t>
            </a:r>
            <a:r>
              <a:rPr lang="en-US" sz="1000" dirty="0">
                <a:solidFill>
                  <a:srgbClr val="9FB6C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AI  | 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675120" y="548640"/>
            <a:ext cx="2377440" cy="237744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800" b="1">
                <a:solidFill>
                  <a:schemeClr val="bg1"/>
                </a:solidFill>
                <a:latin typeface="Cambria" panose="02040503050406030204"/>
              </a:rPr>
              <a:t>StartupSpark AI</a:t>
            </a:r>
            <a:endParaRPr lang="en-US" sz="4800" b="1" dirty="0">
              <a:solidFill>
                <a:schemeClr val="bg1"/>
              </a:solidFill>
              <a:latin typeface="Cambria" panose="0204050305040603020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>
                <a:solidFill>
                  <a:schemeClr val="accent4">
                    <a:lumMod val="20000"/>
                    <a:lumOff val="80000"/>
                  </a:schemeClr>
                </a:solidFill>
                <a:latin typeface="Calibri" panose="020F0502020204030204"/>
              </a:rPr>
              <a:t>AI-Powered Startup Pitch and Business Idea Generator</a:t>
            </a:r>
            <a:endParaRPr lang="en-US" sz="2200" dirty="0">
              <a:solidFill>
                <a:schemeClr val="accent4">
                  <a:lumMod val="20000"/>
                  <a:lumOff val="80000"/>
                </a:schemeClr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>
                <a:solidFill>
                  <a:schemeClr val="bg1"/>
                </a:solidFill>
                <a:latin typeface="Calibri" panose="020F0502020204030204"/>
              </a:rPr>
              <a:t>B.Tech in Information Technology  |  Project Review</a:t>
            </a:r>
            <a:endParaRPr lang="en-US" sz="16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GMRIT Deemed to be University, Rajam, Andhra Pradesh</a:t>
            </a:r>
            <a:endParaRPr lang="en-US" sz="1400" dirty="0">
              <a:solidFill>
                <a:schemeClr val="bg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</a:t>
            </a: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400" b="1" dirty="0"/>
              <a:t>D Vinay</a:t>
            </a:r>
            <a:endParaRPr lang="en-IN" altLang="en-US" sz="1400" b="1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23341A42</a:t>
            </a:r>
            <a:r>
              <a:rPr lang="en-IN" alt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IN" altLang="en-US" sz="1200" dirty="0">
              <a:solidFill>
                <a:srgbClr val="5B6B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</a:t>
            </a:r>
            <a:r>
              <a:rPr lang="en-IN" alt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</a:t>
            </a:r>
            <a:endParaRPr lang="en-IN" altLang="en-US" sz="1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206240" y="16002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400" b="1" dirty="0"/>
              <a:t>K jaswanth</a:t>
            </a:r>
            <a:endParaRPr lang="en-IN" altLang="en-US" sz="1400" b="1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0574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23341A42</a:t>
            </a:r>
            <a:r>
              <a:rPr lang="en-IN" alt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IN" altLang="en-US" sz="1200" dirty="0">
              <a:solidFill>
                <a:srgbClr val="5B6B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800" b="1" dirty="0">
                <a:solidFill>
                  <a:schemeClr val="bg1"/>
                </a:solidFill>
              </a:rPr>
              <a:t>LR</a:t>
            </a:r>
            <a:endParaRPr lang="en-IN" altLang="en-US" sz="18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7040880" y="160020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400" b="1" dirty="0">
                <a:solidFill>
                  <a:srgbClr val="0F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Rajesh</a:t>
            </a:r>
            <a:endParaRPr lang="en-IN" altLang="en-US" sz="1400" b="1" dirty="0">
              <a:solidFill>
                <a:srgbClr val="0F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040880" y="20574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23341A</a:t>
            </a:r>
            <a:r>
              <a:rPr lang="en-IN" alt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05E7</a:t>
            </a:r>
            <a:endParaRPr lang="en-IN" altLang="en-US" sz="1200" dirty="0">
              <a:solidFill>
                <a:srgbClr val="5B6B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37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SB</a:t>
            </a:r>
            <a:endParaRPr lang="en-IN" altLang="en-US" sz="1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371600" y="32461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400" b="1" dirty="0">
                <a:solidFill>
                  <a:srgbClr val="0F2B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Bhanu prakash</a:t>
            </a:r>
            <a:endParaRPr lang="en-IN" altLang="en-US" sz="1400" b="1" dirty="0">
              <a:solidFill>
                <a:srgbClr val="0F2B3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371600" y="3703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23341A</a:t>
            </a:r>
            <a:r>
              <a:rPr lang="en-IN" altLang="en-US" sz="1200" dirty="0">
                <a:solidFill>
                  <a:srgbClr val="5B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4A5</a:t>
            </a:r>
            <a:endParaRPr lang="en-IN" altLang="en-US" sz="1200" dirty="0">
              <a:solidFill>
                <a:srgbClr val="5B6B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383280" y="299339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66160" y="32461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chemeClr val="bg1"/>
                </a:solidFill>
                <a:latin typeface="Cambria" panose="02040503050406030204"/>
              </a:rPr>
              <a:t>Faculty Guide</a:t>
            </a:r>
            <a:endParaRPr lang="en-US" sz="1600" b="1" dirty="0">
              <a:solidFill>
                <a:schemeClr val="bg1"/>
              </a:solidFill>
              <a:latin typeface="Cambria" panose="02040503050406030204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520440" y="37033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[Add name and designation]</a:t>
            </a:r>
            <a:endParaRPr lang="en-US" sz="1400" dirty="0">
              <a:solidFill>
                <a:schemeClr val="bg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Background and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The situation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Student innovators often have ideas but struggle to shape them into a clear business concept</a:t>
            </a:r>
            <a:r>
              <a:rPr lang="en-IN" sz="1400">
                <a:latin typeface="Calibri" panose="020F0502020204030204"/>
              </a:rPr>
              <a:t>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Early ideas may lack a defined customer, value proposition and first version of the product</a:t>
            </a:r>
            <a:r>
              <a:rPr lang="en-IN" sz="1400">
                <a:latin typeface="Calibri" panose="020F0502020204030204"/>
              </a:rPr>
              <a:t>.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Founders may not know what to ask customers or how to test their assumptions</a:t>
            </a:r>
            <a:r>
              <a:rPr lang="en-IN" sz="1400">
                <a:latin typeface="Calibri" panose="020F0502020204030204"/>
              </a:rPr>
              <a:t>.</a:t>
            </a:r>
            <a:endParaRPr lang="en-IN" sz="1400"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75225" y="1874520"/>
            <a:ext cx="36931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Planning from scratch can feel confusing and time-consuming</a:t>
            </a:r>
            <a:r>
              <a:rPr lang="en-IN" sz="1400">
                <a:latin typeface="Calibri" panose="020F0502020204030204"/>
              </a:rPr>
              <a:t>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Unclear assumptions can be mistaken for facts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New founders may focus on building before understanding customer needs</a:t>
            </a:r>
            <a:r>
              <a:rPr lang="en-IN" sz="1400">
                <a:latin typeface="Calibri" panose="020F0502020204030204"/>
              </a:rPr>
              <a:t>.</a:t>
            </a:r>
            <a:endParaRPr lang="en-IN"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A promising idea needs a practical way to test it</a:t>
            </a:r>
            <a:r>
              <a:rPr lang="en-IN" sz="1400">
                <a:latin typeface="Calibri" panose="020F0502020204030204"/>
              </a:rPr>
              <a:t>.</a:t>
            </a:r>
            <a:endParaRPr lang="en-IN" sz="140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Existing Approach vs Proposed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Existing approaches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4747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Unstructured notes and brainstorming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Generic pitch templates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Assumptions presented as facts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No clear customer-validation steps</a:t>
            </a:r>
            <a:endParaRPr sz="1400"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anose="02040503050406030204"/>
              </a:rPr>
              <a:t>StartupSpark AI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  <a:latin typeface="Cambria" panose="02040503050406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977765" y="1920240"/>
            <a:ext cx="3480435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Collects five key startup inputs</a:t>
            </a: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Creates a structured concept brief and pitch outline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Separates assumptions from unverified claims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Suggests practical questions and validation actions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Collect the problem, target customer, location, constraints and existing alternatives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716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Create a clear concept brief and value proposition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3774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Suggest a small set of useful MVP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4871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87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37744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Identify key risks and assumptions to verify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3832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Prepare interview questions, a pitch outline and a validation checklist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493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3832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Help founders plan next steps without claiming the idea is already validated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What is StartupSpark AI?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Describe the startup idea and its 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Structure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603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Turn the inputs into a concept brief, value proposition and MVP outline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Validate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6032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Suggest customer interviews, risks and experiments to gather evidence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latin typeface="Calibri" panose="020F0502020204030204"/>
              </a:rPr>
              <a:t>StartupSpark AI is a planning assistant, not proof of market demand. Important assumptions must be checked with real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Cambria" panose="02040503050406030204"/>
              </a:rPr>
              <a:t>Idea generation: from rough inputs to a structured concept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solidFill>
                  <a:schemeClr val="bg2"/>
                </a:solidFill>
                <a:latin typeface="Calibri" panose="020F0502020204030204"/>
              </a:rPr>
              <a:t>Enter five inputs</a:t>
            </a:r>
            <a:endParaRPr lang="en-US" sz="1400" b="1" dirty="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920240" y="19202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64592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solidFill>
                  <a:schemeClr val="bg2"/>
                </a:solidFill>
                <a:latin typeface="Calibri" panose="020F0502020204030204"/>
              </a:rPr>
              <a:t>Validate required fields</a:t>
            </a:r>
            <a:endParaRPr lang="en-US" sz="1400" b="1" dirty="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11880" y="19202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4592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solidFill>
                  <a:schemeClr val="bg2"/>
                </a:solidFill>
                <a:latin typeface="Calibri" panose="020F0502020204030204"/>
              </a:rPr>
              <a:t>Build project prompt</a:t>
            </a:r>
            <a:endParaRPr lang="en-US" sz="1400" b="1" dirty="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303520" y="19202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164592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solidFill>
                  <a:schemeClr val="bg2"/>
                </a:solidFill>
                <a:latin typeface="Calibri" panose="020F0502020204030204"/>
              </a:rPr>
              <a:t>Demo or Groq model</a:t>
            </a:r>
            <a:endParaRPr lang="en-US" sz="1400" b="1" dirty="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995160" y="19202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64592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solidFill>
                  <a:schemeClr val="bg2"/>
                </a:solidFill>
                <a:latin typeface="Calibri" panose="020F0502020204030204"/>
              </a:rPr>
              <a:t>Display structured brief</a:t>
            </a:r>
            <a:endParaRPr lang="en-US" sz="1400" b="1" dirty="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latin typeface="Cambria" panose="02040503050406030204"/>
              </a:rPr>
              <a:t>Extensions: turn the concept into practical next steps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9184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latin typeface="Calibri" panose="020F0502020204030204"/>
              </a:rPr>
              <a:t>Choose an extension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566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4884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329184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latin typeface="Calibri" panose="020F0502020204030204"/>
              </a:rPr>
              <a:t>Compare alternatives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3566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048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29184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latin typeface="Calibri" panose="020F0502020204030204"/>
              </a:rPr>
              <a:t>Calculate unit economics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566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3212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329184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latin typeface="Calibri" panose="020F0502020204030204"/>
              </a:rPr>
              <a:t>Plan two-week experiment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5661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3291840"/>
            <a:ext cx="1463040" cy="9144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sz="1400" b="1">
                <a:latin typeface="Calibri" panose="020F0502020204030204"/>
              </a:rPr>
              <a:t>Review assumptions and next actions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Main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Input 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659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Input Validation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9659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Prompt and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5087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96596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AI / Demo Service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2044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Structured Brief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352044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Planning Extensions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0632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520440"/>
            <a:ext cx="16459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b="1">
                <a:latin typeface="Calibri" panose="020F0502020204030204"/>
              </a:rPr>
              <a:t>Testing Module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06324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chemeClr val="bg2"/>
                </a:solidFill>
                <a:latin typeface="Cambria" panose="02040503050406030204"/>
              </a:rPr>
              <a:t>Modular by design</a:t>
            </a:r>
            <a:endParaRPr lang="en-US" sz="1600" b="1" dirty="0">
              <a:solidFill>
                <a:schemeClr val="bg2"/>
              </a:solidFill>
              <a:latin typeface="Cambria" panose="02040503050406030204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Proposed 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User interface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Streamlit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Application logic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Python modules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Planning calculations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2880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pandas for editable unit economics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AI provider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Optional Groq API integration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Default mode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38328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Deterministic demo output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latin typeface="Cambria" panose="02040503050406030204"/>
              </a:rPr>
              <a:t>Testing and configuration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38328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>
                <a:latin typeface="Calibri" panose="020F0502020204030204"/>
              </a:rPr>
              <a:t>pytest, python-dotenv and Streamlit secrets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i="1">
                <a:latin typeface="Calibri" panose="020F0502020204030204"/>
              </a:rPr>
              <a:t>The app can run in demo mode without an API key. Provider secrets are configured outside the source code.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Testing and Evaluation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latin typeface="Cambria" panose="02040503050406030204"/>
              </a:rPr>
              <a:t>Test categories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Required and missing inputs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Oversized input and validation errors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Structured brief generation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Provider and malformed-response errors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Alternative comparison and unit economics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Experiment-plan output and UI submission</a:t>
            </a:r>
            <a:endParaRPr sz="1400">
              <a:latin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anose="02040503050406030204"/>
              </a:rPr>
              <a:t>Observed test result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  <a:latin typeface="Cambria" panose="0204050305040603020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20 automated tests passed</a:t>
            </a:r>
            <a:endParaRPr lang="en-US" sz="14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Input validation and prompt checks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Demo and error handling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Extension arithmetic and experiment plan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solidFill>
                <a:schemeClr val="bg2"/>
              </a:solidFill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2"/>
                </a:solidFill>
                <a:latin typeface="Calibri" panose="020F0502020204030204"/>
              </a:rPr>
              <a:t>UI rendering and valid submission</a:t>
            </a:r>
            <a:endParaRPr sz="1400">
              <a:solidFill>
                <a:schemeClr val="bg2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latin typeface="Cambria" panose="02040503050406030204"/>
              </a:rPr>
              <a:t>Security, Privacy and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chemeClr val="accent4">
                    <a:lumMod val="60000"/>
                    <a:lumOff val="40000"/>
                  </a:schemeClr>
                </a:solidFill>
                <a:latin typeface="Cambria" panose="02040503050406030204"/>
              </a:rPr>
              <a:t>Responsible use</a:t>
            </a:r>
            <a:endParaRPr lang="en-US" sz="1600" b="1" dirty="0">
              <a:solidFill>
                <a:schemeClr val="accent4">
                  <a:lumMod val="60000"/>
                  <a:lumOff val="40000"/>
                </a:schemeClr>
              </a:solidFill>
              <a:latin typeface="Cambria" panose="0204050305040603020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1945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Demo output is clearly labelled as template-based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User inputs guide the generated brief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Market and competitor claims are not independently verified</a:t>
            </a:r>
            <a:endParaRPr sz="1400"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latin typeface="Cambria" panose="02040503050406030204"/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Demo mode does not perform live research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AI-generated content can be incomplete or wrong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No login, database, saved history or persistent storage</a:t>
            </a:r>
            <a:endParaRPr sz="1400"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B8760A"/>
          </a:solidFill>
          <a:ln w="12700">
            <a:solidFill>
              <a:srgbClr val="B876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latin typeface="Cambria" panose="02040503050406030204"/>
              </a:rPr>
              <a:t>Risk mitigation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103120"/>
            <a:ext cx="21945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Treat outputs as starting </a:t>
            </a:r>
            <a:r>
              <a:rPr lang="en-IN" sz="1400">
                <a:latin typeface="Calibri" panose="020F0502020204030204"/>
              </a:rPr>
              <a:t>    </a:t>
            </a:r>
            <a:r>
              <a:rPr sz="1400">
                <a:latin typeface="Calibri" panose="020F0502020204030204"/>
              </a:rPr>
              <a:t>points, not facts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Verify assumptions through customer interviews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Use editable assumptions for unit economics</a:t>
            </a:r>
            <a:endParaRPr sz="1400">
              <a:latin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>
                <a:latin typeface="Calibri" panose="020F0502020204030204"/>
              </a:rPr>
              <a:t>Keep API keys in environment variables or app secrets</a:t>
            </a:r>
            <a:endParaRPr sz="140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" y="120015"/>
            <a:ext cx="8916670" cy="4806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n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000"/>
            <a:ext cx="9144000" cy="49504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WhatsApp Image 2026-10-30 at 13.36.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695"/>
            <a:ext cx="9144000" cy="4943475"/>
          </a:xfrm>
          <a:prstGeom prst="rect">
            <a:avLst/>
          </a:prstGeom>
        </p:spPr>
      </p:pic>
      <p:pic>
        <p:nvPicPr>
          <p:cNvPr id="3" name="Picture 2" descr="WhatsApp Image 2026-10-30 at 13.36.46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90"/>
            <a:ext cx="9144000" cy="492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WhatsApp Image 2026-10-30 at 13.36.47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315"/>
            <a:ext cx="9144000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WhatsApp Image 2026-10-30 at 13.36.47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535"/>
            <a:ext cx="9144000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6-10-30 at 13.36.46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520"/>
            <a:ext cx="9144000" cy="49504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chemeClr val="accent4">
                    <a:lumMod val="40000"/>
                    <a:lumOff val="60000"/>
                  </a:schemeClr>
                </a:solidFill>
                <a:latin typeface="Cambria" panose="02040503050406030204"/>
              </a:rPr>
              <a:t>Conclusion and Future Enhancements</a:t>
            </a:r>
            <a:endParaRPr lang="en-US" sz="3200" b="1" dirty="0">
              <a:solidFill>
                <a:schemeClr val="accent4">
                  <a:lumMod val="40000"/>
                  <a:lumOff val="60000"/>
                </a:schemeClr>
              </a:solidFill>
              <a:latin typeface="Cambria" panose="0204050305040603020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latin typeface="Calibri" panose="020F0502020204030204"/>
              </a:rPr>
              <a:t>StartupSpark AI  |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54125"/>
            <a:ext cx="3840480" cy="1316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00">
                <a:solidFill>
                  <a:srgbClr val="FFFFFF"/>
                </a:solidFill>
                <a:latin typeface="Calibri" panose="020F0502020204030204"/>
              </a:rPr>
              <a:t>StartupSpark AI helps student founders turn an early idea into a structured concept, a first pitch and a practical plan for learning from potential customers.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400" i="1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/>
              </a:rPr>
              <a:t>The goal is not to prove a business will succeed, but to help founders identify assumptions and test them with evidence.</a:t>
            </a:r>
            <a:endParaRPr lang="en-US" sz="1400" i="1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7405A"/>
          </a:solidFill>
          <a:ln w="12700">
            <a:solidFill>
              <a:srgbClr val="1740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83785" y="1359535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 b="1">
                <a:solidFill>
                  <a:schemeClr val="bg1"/>
                </a:solidFill>
                <a:latin typeface="Cambria" panose="02040503050406030204"/>
              </a:rPr>
              <a:t>Future enhancements</a:t>
            </a:r>
            <a:endParaRPr lang="en-US" sz="2000" b="1" dirty="0">
              <a:solidFill>
                <a:schemeClr val="bg1"/>
              </a:solidFill>
              <a:latin typeface="Cambria" panose="02040503050406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841875" y="1733550"/>
            <a:ext cx="3566160" cy="2587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Capture and review user feedback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Improve the clarity of generated briefs</a:t>
            </a: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Add downloadable concept reports</a:t>
            </a: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Expand validation-plan templates</a:t>
            </a: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Improve live-provider and deployment checks</a:t>
            </a: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1400">
                <a:solidFill>
                  <a:schemeClr val="bg1">
                    <a:lumMod val="95000"/>
                  </a:schemeClr>
                </a:solidFill>
                <a:latin typeface="Calibri" panose="020F0502020204030204"/>
              </a:rPr>
              <a:t>Add optional project history with secure storage</a:t>
            </a:r>
            <a:endParaRPr sz="1400">
              <a:solidFill>
                <a:schemeClr val="bg1">
                  <a:lumMod val="95000"/>
                </a:schemeClr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4638</Words>
  <Application>WPS Presentation</Application>
  <PresentationFormat>On-screen Show (16:9)</PresentationFormat>
  <Paragraphs>317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DocuSage AI - Document Intelligence using RAG</dc:title>
  <dc:creator>PptxGenJS</dc:creator>
  <dc:subject>PptxGenJS Presentation</dc:subject>
  <cp:lastModifiedBy>Lenka Rajesh</cp:lastModifiedBy>
  <cp:revision>4</cp:revision>
  <dcterms:created xsi:type="dcterms:W3CDTF">2026-10-29T05:15:00Z</dcterms:created>
  <dcterms:modified xsi:type="dcterms:W3CDTF">2026-10-30T17:25:48Z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A1147D34FF0549E58FAC2C6891B08862_12</vt:lpwstr>
  </property>
  <property fmtid="{D5CDD505-2E9C-101B-9397-08002B2CF9AE}" pid="3" name="KSOProductBuildVer">
    <vt:lpwstr>1033-12.1.0.27458</vt:lpwstr>
  </property>
</Properties>
</file>